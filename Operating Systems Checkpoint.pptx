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6256000" cy="9144000"/>
  <p:notesSz cx="9144000" cy="16256000"/>
  <p:embeddedFontLst>
    <p:embeddedFont>
      <p:font typeface="Quattrocento Sans" panose="020B0502050000020003" pitchFamily="34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186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302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kern="0" spc="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SYSTEMS 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0" y="4318000"/>
            <a:ext cx="2540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4572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Scheduling · Process Synchronization · Memory Management · Disk Scheduling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88000" y="609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A94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Alecho Edwin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778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16000" y="2603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Scheduling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16000" y="3048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FCFS vs. Round Robin — Gantt charts and waiting time analysis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16000" y="3810000"/>
            <a:ext cx="6096000" cy="127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1778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0" y="2603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Synchronization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0" y="3048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Mutex locks and race condition prevention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0" y="3810000"/>
            <a:ext cx="6096000" cy="127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4826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016000" y="5651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16000" y="6096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FIFO vs. LRU page replacement strategies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16000" y="6858000"/>
            <a:ext cx="6096000" cy="127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4826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144000" y="5651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0" y="6096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FCFS vs. SSTF — disk head movement optimization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0" y="6858000"/>
            <a:ext cx="6096000" cy="12700"/>
          </a:xfrm>
          <a:prstGeom prst="rect">
            <a:avLst/>
          </a:prstGeom>
          <a:solidFill>
            <a:srgbClr val="D1D5DB"/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540000"/>
            <a:ext cx="4470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016000" y="3937000"/>
            <a:ext cx="4470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SCHEDULING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4635500"/>
            <a:ext cx="1016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6" name="Text 4"/>
          <p:cNvSpPr/>
          <p:nvPr/>
        </p:nvSpPr>
        <p:spPr>
          <a:xfrm>
            <a:off x="7264400" y="3556000"/>
            <a:ext cx="8229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Simulating CPU scheduling algorithms with process arrival times and burst durations. Comparing FCFS and Round Robin through Gantt charts and average waiting time calculations.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Scheduling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97000" y="419100"/>
            <a:ext cx="1270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Synchronization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63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FIRST-COME, FIRST-SERVED (FCFS)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6604000" cy="1651000"/>
        </p:xfrm>
        <a:graphic>
          <a:graphicData uri="http://schemas.openxmlformats.org/drawingml/2006/table">
            <a:tbl>
              <a:tblPr/>
              <a:tblGrid>
                <a:gridCol w="231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Process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Arrival Time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Burst Time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3149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Gantt Chart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62000" y="3530600"/>
            <a:ext cx="6350000" cy="5588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12" name="Text 9"/>
          <p:cNvSpPr/>
          <p:nvPr/>
        </p:nvSpPr>
        <p:spPr>
          <a:xfrm>
            <a:off x="762000" y="3530600"/>
            <a:ext cx="635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12000" y="3530600"/>
            <a:ext cx="3810000" cy="5588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4" name="Text 11"/>
          <p:cNvSpPr/>
          <p:nvPr/>
        </p:nvSpPr>
        <p:spPr>
          <a:xfrm>
            <a:off x="7112000" y="3530600"/>
            <a:ext cx="381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922000" y="3530600"/>
            <a:ext cx="1270000" cy="558800"/>
          </a:xfrm>
          <a:prstGeom prst="rect">
            <a:avLst/>
          </a:prstGeom>
          <a:solidFill>
            <a:srgbClr val="5A8A6F"/>
          </a:solidFill>
          <a:ln/>
        </p:spPr>
      </p:sp>
      <p:sp>
        <p:nvSpPr>
          <p:cNvPr id="16" name="Text 13"/>
          <p:cNvSpPr/>
          <p:nvPr/>
        </p:nvSpPr>
        <p:spPr>
          <a:xfrm>
            <a:off x="10922000" y="3530600"/>
            <a:ext cx="127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11200" y="41402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921500" y="41402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31500" y="41402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2001500" y="41402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62000" y="4635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016500"/>
          <a:ext cx="6604000" cy="16510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Process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Completion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Turnaround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Waiting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Burst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762000" y="68580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Waiting Time = </a:t>
            </a:r>
            <a:r>
              <a:rPr lang="en-US" sz="18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(0 + 4 + 6) / 3 = 3.33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128000" y="4572000"/>
            <a:ext cx="7366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 of FCFS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Non-preemptive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once started, runs to completion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basic FIFO queue implementation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Convoy effect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short jobs wait behind long ones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for interactive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long response times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for batch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throughput priority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Scheduling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97000" y="419100"/>
            <a:ext cx="1270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Synchronization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635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ROUND ROBIN (QUANTUM = 2)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6604000" cy="1651000"/>
        </p:xfrm>
        <a:graphic>
          <a:graphicData uri="http://schemas.openxmlformats.org/drawingml/2006/table">
            <a:tbl>
              <a:tblPr/>
              <a:tblGrid>
                <a:gridCol w="231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Process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Arrival Time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Burst Time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3149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Gantt Chart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62000" y="3530600"/>
            <a:ext cx="2540000" cy="5588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12" name="Text 9"/>
          <p:cNvSpPr/>
          <p:nvPr/>
        </p:nvSpPr>
        <p:spPr>
          <a:xfrm>
            <a:off x="762000" y="35306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02000" y="3530600"/>
            <a:ext cx="2540000" cy="5588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4" name="Text 11"/>
          <p:cNvSpPr/>
          <p:nvPr/>
        </p:nvSpPr>
        <p:spPr>
          <a:xfrm>
            <a:off x="3302000" y="35306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842000" y="3530600"/>
            <a:ext cx="1270000" cy="558800"/>
          </a:xfrm>
          <a:prstGeom prst="rect">
            <a:avLst/>
          </a:prstGeom>
          <a:solidFill>
            <a:srgbClr val="5A8A6F"/>
          </a:solidFill>
          <a:ln/>
        </p:spPr>
      </p:sp>
      <p:sp>
        <p:nvSpPr>
          <p:cNvPr id="16" name="Text 13"/>
          <p:cNvSpPr/>
          <p:nvPr/>
        </p:nvSpPr>
        <p:spPr>
          <a:xfrm>
            <a:off x="5842000" y="3530600"/>
            <a:ext cx="127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P3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112000" y="3530600"/>
            <a:ext cx="1270000" cy="5588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8" name="Text 15"/>
          <p:cNvSpPr/>
          <p:nvPr/>
        </p:nvSpPr>
        <p:spPr>
          <a:xfrm>
            <a:off x="7112000" y="3530600"/>
            <a:ext cx="127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P2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382000" y="3530600"/>
            <a:ext cx="1270000" cy="5588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20" name="Text 17"/>
          <p:cNvSpPr/>
          <p:nvPr/>
        </p:nvSpPr>
        <p:spPr>
          <a:xfrm>
            <a:off x="8382000" y="3530600"/>
            <a:ext cx="127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1200" y="41402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111500" y="41402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51500" y="41402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921500" y="41402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191500" y="41402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461500" y="41402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62000" y="4635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400" dirty="0"/>
          </a:p>
        </p:txBody>
      </p:sp>
      <p:graphicFrame>
        <p:nvGraphicFramePr>
          <p:cNvPr id="2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016500"/>
          <a:ext cx="6604000" cy="16510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Process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Completion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Turnaround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Waiting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Burst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 25"/>
          <p:cNvSpPr/>
          <p:nvPr/>
        </p:nvSpPr>
        <p:spPr>
          <a:xfrm>
            <a:off x="762000" y="68580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Waiting Time = </a:t>
            </a:r>
            <a:r>
              <a:rPr lang="en-US" sz="18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(2 + 2 + 2) / 3 = 2.0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8128000" y="4572000"/>
            <a:ext cx="7366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 of Round Robin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Preemptive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fixed time slice (quantum = 2)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Fair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equal CPU time for all processes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short jobs complete faster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Overhead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more context switches than FCFS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ideal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predictable response times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Scheduling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97000" y="419100"/>
            <a:ext cx="1270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Synchronization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635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SCHEDULING COMPARISON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2540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Metric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FCFS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Round Robin (Q=2)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Avg Waiting Time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3.33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Execution Order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 → P2 → P3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 → P2 → P3 → P2 → P1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Type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Non-preemptive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Preemptive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P3 Completion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Time 9 (slowest)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Time 5 (fastest)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431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Which Is More Responsive?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62000" y="4737100"/>
            <a:ext cx="762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2" name="Text 9"/>
          <p:cNvSpPr/>
          <p:nvPr/>
        </p:nvSpPr>
        <p:spPr>
          <a:xfrm>
            <a:off x="762000" y="50165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Round Robin wins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 40% lower average waiting time (2.0 vs. 3.33).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 ensures all processes get regular CPU time, preventing short jobs from being trapped behind long ones.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P3 (burst=1) finishes at time 5 under RR versus time 9 under FCFS — a significant improvement for short processes.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382000" y="4318000"/>
            <a:ext cx="7112000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63000" y="4572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Trade-offs to Consider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763000" y="5080000"/>
            <a:ext cx="635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FCFS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simpler with fewer context switches, making it suitable for batch systems where throughput is the priority.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Round Robin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introduces more context switches but delivers fair, predictable response times — essential for interactive and time-sharing systems.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optimal quantum balances responsiveness against switch overhead.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/ 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540000"/>
            <a:ext cx="4470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016000" y="3937000"/>
            <a:ext cx="533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SYNCHRONIZATION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16000" y="4635500"/>
            <a:ext cx="1016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6" name="Text 4"/>
          <p:cNvSpPr/>
          <p:nvPr/>
        </p:nvSpPr>
        <p:spPr>
          <a:xfrm>
            <a:off x="7264400" y="3556000"/>
            <a:ext cx="8229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Protecting shared resources from race conditions. Understanding what goes wrong without synchronization and implementing mutual exclusion with mutex locks.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Scheduling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Synchronization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61000" y="419100"/>
            <a:ext cx="1270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635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RACE CONDITION PROBLEM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62000" y="1333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Two processes (P1 and P2) each increment a shared counter variable 100 times. Expected final value: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2286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Goes Wrong?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762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921000"/>
            <a:ext cx="685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counter++ is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atomic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 compiles to three machine instructions: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counter from memory into a register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Increment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register value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new value back to memory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P1 and P2 interleave between these steps, updates are lost.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2286000"/>
            <a:ext cx="711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63000" y="2476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Interleaving (counter starts at 0)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63000" y="2921000"/>
          <a:ext cx="6350000" cy="2667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Step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Read counter = 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Read counter = 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Write counter = 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Write counter = 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Result: counter = 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62000" y="6223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Expected: 200</a:t>
            </a: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</a:t>
            </a: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Actual: Unpredictable (often &lt; 200)</a:t>
            </a: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— This is a </a:t>
            </a: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race condition</a:t>
            </a: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Enforce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mutual exclusion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only one process may enter the critical section (the code that modifies the shared variable) at any time. A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mutex lock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simplest and most appropriate mechanism for this scenario.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Scheduling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Synchronization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61000" y="419100"/>
            <a:ext cx="1270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635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MUTEX SOLUTION &amp; PSEUDOCODE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62000" y="1333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Chosen Mechanism: Mutex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1714500"/>
            <a:ext cx="762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9685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mutex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(mutual exclusion lock) ensures only one process accesses the critical section at a time.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lock() — acquire the lock (block if held)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unlock() — release the lock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508500"/>
            <a:ext cx="6858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" y="4635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Pseudocode — Mutual Exclusion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080000"/>
            <a:ext cx="635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Shared resources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mutex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counter_mutex;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counter = 0;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Each process executes: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 = 0; i &lt; 100; i++) 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counter_mutex.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lock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counter++;  </a:t>
            </a: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Critical Section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counter_mutex.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unlock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82000" y="1333500"/>
            <a:ext cx="7112000" cy="69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3000" y="152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Synchronization Options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763000" y="2095500"/>
            <a:ext cx="635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Semaphore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count-based synchronization primitive. A binary semaphore (count = 1) behaves like a mutex but has different ownership semantics.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 limiting access to N resources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763000" y="4165600"/>
            <a:ext cx="6350000" cy="127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0" y="4318000"/>
            <a:ext cx="635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higher-level abstraction that encapsulates shared data and synchronization. The compiler automatically generates lock/unlock calls.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 cleaner code, less error-prone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63000" y="6375400"/>
            <a:ext cx="6350000" cy="127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1" name="Text 19"/>
          <p:cNvSpPr/>
          <p:nvPr/>
        </p:nvSpPr>
        <p:spPr>
          <a:xfrm>
            <a:off x="8763000" y="65405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Mutex for This Scenario?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Mutex is the simplest and most efficient choice when protecting a single shared resource. It has clear ownership semantics and minimal overhead.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/ 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540000"/>
            <a:ext cx="4470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016000" y="3937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16000" y="4635500"/>
            <a:ext cx="1016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6" name="Text 4"/>
          <p:cNvSpPr/>
          <p:nvPr/>
        </p:nvSpPr>
        <p:spPr>
          <a:xfrm>
            <a:off x="7264400" y="3556000"/>
            <a:ext cx="8229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 replacement strategies for virtual memory systems. Simulating FIFO and LRU algorithms to compare page fault rates and understand their trade-offs.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Scheduling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Synchronization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25000" y="419100"/>
            <a:ext cx="1270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635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FIFO PAGE REPLACEMENT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62000" y="1270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frames</a:t>
            </a: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Reference string: </a:t>
            </a: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1, 2, 3, 2, 4, 1, 5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8890000" cy="3683000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56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Reference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Frame 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Frame 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Frame 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Fault?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Victim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577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Page Faults: </a:t>
            </a:r>
            <a:r>
              <a:rPr lang="en-US" sz="20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Hits: </a:t>
            </a: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9"/>
          <p:cNvSpPr/>
          <p:nvPr/>
        </p:nvSpPr>
        <p:spPr>
          <a:xfrm>
            <a:off x="762000" y="6477000"/>
            <a:ext cx="889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FIFO Characteristics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Simple queue-based implementation — easy to understand and code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Replaces the oldest page regardless of how frequently it is used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Can suffer from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Belady's Anomaly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more frames may cause more faults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414000" y="1841500"/>
            <a:ext cx="5080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68000" y="1968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r>
              <a:rPr lang="en-US" sz="14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Page Fault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668000" y="2349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</a:t>
            </a: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Hit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954000" y="1968500"/>
            <a:ext cx="228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Bold numbers = newly loaded page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Scheduling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Synchronization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25000" y="419100"/>
            <a:ext cx="1270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635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LRU PAGE REPLACEMENT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62000" y="1270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frames</a:t>
            </a: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Reference string: </a:t>
            </a: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1, 2, 3, 2, 4, 1, 5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8890000" cy="3683000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56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Reference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Frame 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Frame 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Frame 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Fault?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Victim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577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Page Faults: </a:t>
            </a:r>
            <a:r>
              <a:rPr lang="en-US" sz="20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Hits: </a:t>
            </a: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62000" y="6477000"/>
            <a:ext cx="889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LRU Characteristics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Replaces the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least recently used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page — exploits temporal locality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Generally outperforms FIFO on real workloads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Requires tracking usage history — higher implementation overhead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10414000" y="1841500"/>
            <a:ext cx="5080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68000" y="1968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r>
              <a:rPr lang="en-US" sz="14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Page Fault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668000" y="2349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</a:t>
            </a: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Hit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954000" y="1968500"/>
            <a:ext cx="228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Bold numbers = newly loaded page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Scheduling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Synchronization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25000" y="419100"/>
            <a:ext cx="1270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635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 REPLACEMENT COMPARISON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2286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Metric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FIFO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LRU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Total Page Faults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Total Hits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Victim Selection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Oldest page in memory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Least recently used page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Belady's Anomaly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Possible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 possible (stack algo)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406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Analysis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62000" y="4470400"/>
            <a:ext cx="762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2" name="Text 9"/>
          <p:cNvSpPr/>
          <p:nvPr/>
        </p:nvSpPr>
        <p:spPr>
          <a:xfrm>
            <a:off x="762000" y="47625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this specific reference string, both algorithms produce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identical results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6 faults and 1 hit.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However, this is a coincidence for this short sequence. In general: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LRU performs better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real programs because it exploits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locality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recently used pages are likely to be used again.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382000" y="4064000"/>
            <a:ext cx="7112000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11"/>
          <p:cNvSpPr/>
          <p:nvPr/>
        </p:nvSpPr>
        <p:spPr>
          <a:xfrm>
            <a:off x="8763000" y="431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Trade-offs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763000" y="4826000"/>
            <a:ext cx="635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FIFO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a simple queue. Low overhead but lacks adaptability — it cannot distinguish between frequently and infrequently used pages.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LRU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tracking access timestamps or maintaining a usage order list. Higher overhead but significantly better fault rates on typical workloads.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systems often use approximations like the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clock algorithm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balance accuracy and efficiency.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540000"/>
            <a:ext cx="4470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016000" y="3937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16000" y="4635500"/>
            <a:ext cx="1016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6" name="Text 4"/>
          <p:cNvSpPr/>
          <p:nvPr/>
        </p:nvSpPr>
        <p:spPr>
          <a:xfrm>
            <a:off x="7264400" y="3556000"/>
            <a:ext cx="8229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Optimizing disk head movement to minimize seek time. Comparing FCFS and SSTF algorithms through total head movement calculations.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Scheduling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Synchronization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589000" y="419100"/>
            <a:ext cx="1270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 SIMULATIONS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62000" y="1270000"/>
            <a:ext cx="1016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 at track </a:t>
            </a: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53</a:t>
            </a: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Requests: </a:t>
            </a: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98, 183, 37, 122, 14, 124, 65, 67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2000" y="1841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FCFS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2197100"/>
            <a:ext cx="508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4130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53 → 98 → 183 → 37 → 122 → 14 → 124 → 65 → 67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28575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|98-53| + |183-98| + |37-183| + |122-37| + |14-122| + |124-14| + |65-124| + |67-65|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45 + 85 + 146 + 85 + 108 + 110 + 59 + 2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</a:t>
            </a: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640 tracks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2000" y="4508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SSTF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62000" y="4864100"/>
            <a:ext cx="508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50800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53 → 65 → 67 → 37 → 14 → 98 → 122 → 124 → 183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5245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|65-53| + |67-65| + |37-67| + |14-37| + |98-14| + |122-98| + |124-122| + |183-124|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12 + 2 + 30 + 23 + 84 + 24 + 2 + 59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</a:t>
            </a: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236 tracks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36000" y="1841500"/>
            <a:ext cx="6858000" cy="53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17000" y="2095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 &amp; Conclusion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17000" y="27305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017000" y="33655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FCFS tracks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74500" y="2857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82500" y="27305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236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2382500" y="33655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C45D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SSTF tracks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17000" y="3873500"/>
            <a:ext cx="6096000" cy="127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6" name="Text 24"/>
          <p:cNvSpPr/>
          <p:nvPr/>
        </p:nvSpPr>
        <p:spPr>
          <a:xfrm>
            <a:off x="9017000" y="41275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SSTF is 63% more efficient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17000" y="4889500"/>
            <a:ext cx="609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SSTF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(Shortest Seek Time First) always services the nearest request, minimizing head movement.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Trade-off: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SSTF may cause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starvation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requests far from the current head position. More advanced algorithms like SCAN or C-SCAN address this.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Scheduling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Synchronization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" y="635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97000"/>
            <a:ext cx="7175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397000"/>
            <a:ext cx="63500" cy="3302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0" name="Shape 8"/>
          <p:cNvSpPr/>
          <p:nvPr/>
        </p:nvSpPr>
        <p:spPr>
          <a:xfrm>
            <a:off x="10795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1" name="Text 9"/>
          <p:cNvSpPr/>
          <p:nvPr/>
        </p:nvSpPr>
        <p:spPr>
          <a:xfrm>
            <a:off x="1587500" y="16256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Scheduling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9500" y="21590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Round Robin provides better responsiveness than FCFS for interactive systems. The time quantum should balance fairness against context switch overhead.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RR avg wait = 2.0 vs. FCFS = 3.33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18500" y="1397000"/>
            <a:ext cx="7175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18500" y="1397000"/>
            <a:ext cx="63500" cy="3302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15" name="Shape 13"/>
          <p:cNvSpPr/>
          <p:nvPr/>
        </p:nvSpPr>
        <p:spPr>
          <a:xfrm>
            <a:off x="86360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8533" y="66675"/>
                </a:moveTo>
                <a:lnTo>
                  <a:pt x="118533" y="111125"/>
                </a:lnTo>
                <a:lnTo>
                  <a:pt x="237067" y="111125"/>
                </a:lnTo>
                <a:lnTo>
                  <a:pt x="237067" y="66675"/>
                </a:lnTo>
                <a:cubicBezTo>
                  <a:pt x="237067" y="42158"/>
                  <a:pt x="210489" y="22225"/>
                  <a:pt x="177800" y="22225"/>
                </a:cubicBezTo>
                <a:cubicBezTo>
                  <a:pt x="145111" y="22225"/>
                  <a:pt x="118533" y="42158"/>
                  <a:pt x="118533" y="66675"/>
                </a:cubicBezTo>
                <a:close/>
                <a:moveTo>
                  <a:pt x="59267" y="111125"/>
                </a:moveTo>
                <a:lnTo>
                  <a:pt x="59267" y="66675"/>
                </a:lnTo>
                <a:cubicBezTo>
                  <a:pt x="59267" y="17572"/>
                  <a:pt x="112329" y="-22225"/>
                  <a:pt x="177800" y="-22225"/>
                </a:cubicBezTo>
                <a:cubicBezTo>
                  <a:pt x="243271" y="-22225"/>
                  <a:pt x="296333" y="17572"/>
                  <a:pt x="296333" y="66675"/>
                </a:cubicBezTo>
                <a:lnTo>
                  <a:pt x="296333" y="111125"/>
                </a:lnTo>
                <a:cubicBezTo>
                  <a:pt x="329023" y="111125"/>
                  <a:pt x="355600" y="131058"/>
                  <a:pt x="355600" y="155575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26577" y="111125"/>
                  <a:pt x="59267" y="111125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16256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Synchronization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36000" y="21590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synchronization, race conditions cause lost updates. Mutex locks enforce mutual exclusion, ensuring only one process enters the critical section at a time.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counter = 200 (guaranteed correct)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016500"/>
            <a:ext cx="7175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2000" y="5016500"/>
            <a:ext cx="63500" cy="3302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9500" y="527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94040"/>
                </a:lnTo>
                <a:cubicBezTo>
                  <a:pt x="0" y="98762"/>
                  <a:pt x="3056" y="102791"/>
                  <a:pt x="7015" y="105360"/>
                </a:cubicBezTo>
                <a:cubicBezTo>
                  <a:pt x="16183" y="111333"/>
                  <a:pt x="22225" y="121612"/>
                  <a:pt x="22225" y="133350"/>
                </a:cubicBezTo>
                <a:cubicBezTo>
                  <a:pt x="22225" y="145088"/>
                  <a:pt x="16183" y="155367"/>
                  <a:pt x="7015" y="161340"/>
                </a:cubicBezTo>
                <a:cubicBezTo>
                  <a:pt x="3056" y="163909"/>
                  <a:pt x="0" y="167938"/>
                  <a:pt x="0" y="172660"/>
                </a:cubicBezTo>
                <a:lnTo>
                  <a:pt x="0" y="211138"/>
                </a:lnTo>
                <a:lnTo>
                  <a:pt x="355600" y="211138"/>
                </a:lnTo>
                <a:lnTo>
                  <a:pt x="355600" y="172660"/>
                </a:lnTo>
                <a:cubicBezTo>
                  <a:pt x="355600" y="167938"/>
                  <a:pt x="352544" y="163909"/>
                  <a:pt x="348585" y="161340"/>
                </a:cubicBezTo>
                <a:cubicBezTo>
                  <a:pt x="339417" y="155367"/>
                  <a:pt x="333375" y="145088"/>
                  <a:pt x="333375" y="133350"/>
                </a:cubicBezTo>
                <a:cubicBezTo>
                  <a:pt x="333375" y="121612"/>
                  <a:pt x="339417" y="111333"/>
                  <a:pt x="348585" y="105360"/>
                </a:cubicBezTo>
                <a:cubicBezTo>
                  <a:pt x="352544" y="102791"/>
                  <a:pt x="355600" y="98762"/>
                  <a:pt x="355600" y="94040"/>
                </a:cubicBez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lose/>
                <a:moveTo>
                  <a:pt x="355600" y="288925"/>
                </a:moveTo>
                <a:lnTo>
                  <a:pt x="355600" y="244475"/>
                </a:lnTo>
                <a:lnTo>
                  <a:pt x="0" y="244475"/>
                </a:lnTo>
                <a:lnTo>
                  <a:pt x="0" y="288925"/>
                </a:lnTo>
                <a:cubicBezTo>
                  <a:pt x="0" y="301218"/>
                  <a:pt x="9932" y="311150"/>
                  <a:pt x="22225" y="311150"/>
                </a:cubicBezTo>
                <a:lnTo>
                  <a:pt x="66675" y="311150"/>
                </a:lnTo>
                <a:lnTo>
                  <a:pt x="66675" y="294481"/>
                </a:lnTo>
                <a:cubicBezTo>
                  <a:pt x="66675" y="285244"/>
                  <a:pt x="74106" y="277813"/>
                  <a:pt x="83344" y="277813"/>
                </a:cubicBezTo>
                <a:cubicBezTo>
                  <a:pt x="92581" y="277813"/>
                  <a:pt x="100013" y="285244"/>
                  <a:pt x="100013" y="294481"/>
                </a:cubicBezTo>
                <a:lnTo>
                  <a:pt x="100013" y="311150"/>
                </a:lnTo>
                <a:lnTo>
                  <a:pt x="161131" y="311150"/>
                </a:lnTo>
                <a:lnTo>
                  <a:pt x="161131" y="294481"/>
                </a:lnTo>
                <a:cubicBezTo>
                  <a:pt x="161131" y="285244"/>
                  <a:pt x="168563" y="277813"/>
                  <a:pt x="177800" y="277813"/>
                </a:cubicBezTo>
                <a:cubicBezTo>
                  <a:pt x="187037" y="277813"/>
                  <a:pt x="194469" y="285244"/>
                  <a:pt x="194469" y="294481"/>
                </a:cubicBezTo>
                <a:lnTo>
                  <a:pt x="194469" y="311150"/>
                </a:lnTo>
                <a:lnTo>
                  <a:pt x="255587" y="311150"/>
                </a:lnTo>
                <a:lnTo>
                  <a:pt x="255587" y="294481"/>
                </a:lnTo>
                <a:cubicBezTo>
                  <a:pt x="255587" y="285244"/>
                  <a:pt x="263019" y="277813"/>
                  <a:pt x="272256" y="277813"/>
                </a:cubicBezTo>
                <a:cubicBezTo>
                  <a:pt x="281494" y="277813"/>
                  <a:pt x="288925" y="285244"/>
                  <a:pt x="288925" y="294481"/>
                </a:cubicBezTo>
                <a:lnTo>
                  <a:pt x="288925" y="311150"/>
                </a:ln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lose/>
                <a:moveTo>
                  <a:pt x="111125" y="111125"/>
                </a:moveTo>
                <a:lnTo>
                  <a:pt x="111125" y="155575"/>
                </a:lnTo>
                <a:cubicBezTo>
                  <a:pt x="111125" y="167868"/>
                  <a:pt x="101193" y="177800"/>
                  <a:pt x="88900" y="177800"/>
                </a:cubicBezTo>
                <a:cubicBezTo>
                  <a:pt x="76607" y="177800"/>
                  <a:pt x="66675" y="167868"/>
                  <a:pt x="66675" y="155575"/>
                </a:cubicBezTo>
                <a:lnTo>
                  <a:pt x="66675" y="111125"/>
                </a:lnTo>
                <a:cubicBezTo>
                  <a:pt x="66675" y="98832"/>
                  <a:pt x="76607" y="88900"/>
                  <a:pt x="88900" y="88900"/>
                </a:cubicBezTo>
                <a:cubicBezTo>
                  <a:pt x="101193" y="88900"/>
                  <a:pt x="111125" y="98832"/>
                  <a:pt x="111125" y="111125"/>
                </a:cubicBezTo>
                <a:close/>
                <a:moveTo>
                  <a:pt x="200025" y="111125"/>
                </a:moveTo>
                <a:lnTo>
                  <a:pt x="200025" y="155575"/>
                </a:lnTo>
                <a:cubicBezTo>
                  <a:pt x="200025" y="167868"/>
                  <a:pt x="190093" y="177800"/>
                  <a:pt x="177800" y="177800"/>
                </a:cubicBezTo>
                <a:cubicBezTo>
                  <a:pt x="165507" y="177800"/>
                  <a:pt x="155575" y="167868"/>
                  <a:pt x="155575" y="155575"/>
                </a:cubicBezTo>
                <a:lnTo>
                  <a:pt x="155575" y="111125"/>
                </a:lnTo>
                <a:cubicBezTo>
                  <a:pt x="155575" y="98832"/>
                  <a:pt x="165507" y="88900"/>
                  <a:pt x="177800" y="88900"/>
                </a:cubicBezTo>
                <a:cubicBezTo>
                  <a:pt x="190093" y="88900"/>
                  <a:pt x="200025" y="98832"/>
                  <a:pt x="200025" y="111125"/>
                </a:cubicBezTo>
                <a:close/>
                <a:moveTo>
                  <a:pt x="288925" y="111125"/>
                </a:moveTo>
                <a:lnTo>
                  <a:pt x="288925" y="155575"/>
                </a:lnTo>
                <a:cubicBezTo>
                  <a:pt x="288925" y="167868"/>
                  <a:pt x="278993" y="177800"/>
                  <a:pt x="266700" y="177800"/>
                </a:cubicBezTo>
                <a:cubicBezTo>
                  <a:pt x="254407" y="177800"/>
                  <a:pt x="244475" y="167868"/>
                  <a:pt x="244475" y="155575"/>
                </a:cubicBezTo>
                <a:lnTo>
                  <a:pt x="244475" y="111125"/>
                </a:lnTo>
                <a:cubicBezTo>
                  <a:pt x="244475" y="98832"/>
                  <a:pt x="254407" y="88900"/>
                  <a:pt x="266700" y="88900"/>
                </a:cubicBezTo>
                <a:cubicBezTo>
                  <a:pt x="278993" y="88900"/>
                  <a:pt x="288925" y="98832"/>
                  <a:pt x="288925" y="111125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21" name="Text 19"/>
          <p:cNvSpPr/>
          <p:nvPr/>
        </p:nvSpPr>
        <p:spPr>
          <a:xfrm>
            <a:off x="1587500" y="52451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9500" y="57785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LRU generally outperforms FIFO by exploiting temporal locality. Though both scored 6 faults in this test, LRU avoids Belady's Anomaly and adapts to access patterns.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LRU = FIFO = 6 faults (tie here)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18500" y="5016500"/>
            <a:ext cx="7175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18500" y="5016500"/>
            <a:ext cx="63500" cy="33020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25" name="Shape 23"/>
          <p:cNvSpPr/>
          <p:nvPr/>
        </p:nvSpPr>
        <p:spPr>
          <a:xfrm>
            <a:off x="8636000" y="527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180648"/>
                </a:lnTo>
                <a:cubicBezTo>
                  <a:pt x="14367" y="171827"/>
                  <a:pt x="31909" y="166688"/>
                  <a:pt x="50800" y="166688"/>
                </a:cubicBezTo>
                <a:lnTo>
                  <a:pt x="304800" y="166688"/>
                </a:lnTo>
                <a:cubicBezTo>
                  <a:pt x="323691" y="166688"/>
                  <a:pt x="341233" y="171827"/>
                  <a:pt x="355600" y="180648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  <a:moveTo>
                  <a:pt x="355600" y="244475"/>
                </a:moveTo>
                <a:cubicBezTo>
                  <a:pt x="355600" y="219958"/>
                  <a:pt x="332819" y="200025"/>
                  <a:pt x="304800" y="200025"/>
                </a:cubicBezTo>
                <a:lnTo>
                  <a:pt x="50800" y="200025"/>
                </a:lnTo>
                <a:cubicBezTo>
                  <a:pt x="22781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244475"/>
                </a:lnTo>
                <a:close/>
                <a:moveTo>
                  <a:pt x="177800" y="266700"/>
                </a:moveTo>
                <a:cubicBezTo>
                  <a:pt x="177800" y="254434"/>
                  <a:pt x="189181" y="244475"/>
                  <a:pt x="203200" y="244475"/>
                </a:cubicBezTo>
                <a:cubicBezTo>
                  <a:pt x="217219" y="244475"/>
                  <a:pt x="228600" y="254434"/>
                  <a:pt x="228600" y="266700"/>
                </a:cubicBezTo>
                <a:cubicBezTo>
                  <a:pt x="228600" y="278966"/>
                  <a:pt x="217219" y="288925"/>
                  <a:pt x="203200" y="288925"/>
                </a:cubicBezTo>
                <a:cubicBezTo>
                  <a:pt x="189181" y="288925"/>
                  <a:pt x="177800" y="278966"/>
                  <a:pt x="177800" y="266700"/>
                </a:cubicBezTo>
                <a:close/>
                <a:moveTo>
                  <a:pt x="279400" y="244475"/>
                </a:moveTo>
                <a:cubicBezTo>
                  <a:pt x="293419" y="244475"/>
                  <a:pt x="304800" y="254434"/>
                  <a:pt x="304800" y="266700"/>
                </a:cubicBezTo>
                <a:cubicBezTo>
                  <a:pt x="304800" y="278966"/>
                  <a:pt x="293419" y="288925"/>
                  <a:pt x="279400" y="288925"/>
                </a:cubicBezTo>
                <a:cubicBezTo>
                  <a:pt x="265381" y="288925"/>
                  <a:pt x="254000" y="278966"/>
                  <a:pt x="254000" y="266700"/>
                </a:cubicBezTo>
                <a:cubicBezTo>
                  <a:pt x="254000" y="254434"/>
                  <a:pt x="265381" y="244475"/>
                  <a:pt x="279400" y="244475"/>
                </a:cubicBezTo>
                <a:close/>
              </a:path>
            </a:pathLst>
          </a:custGeom>
          <a:solidFill>
            <a:srgbClr val="C45D3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52451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Scheduling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36000" y="57785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SSTF significantly reduces seek time by always servicing the nearest request. However, starvation prevention requires more advanced algorithms like SCAN.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SSTF = 236 vs. FCFS = 640 tracks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/ 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302000"/>
            <a:ext cx="2540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0" y="355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kern="0" spc="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0" y="4572000"/>
            <a:ext cx="2540000" cy="38100"/>
          </a:xfrm>
          <a:prstGeom prst="rect">
            <a:avLst/>
          </a:prstGeom>
          <a:solidFill>
            <a:srgbClr val="C45D3E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4826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Systems — Balancing Efficiency, Fairness &amp; Resource Optimization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1845</Words>
  <Application>Microsoft Office PowerPoint</Application>
  <PresentationFormat>Custom</PresentationFormat>
  <Paragraphs>447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Quattrocento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Checkpoint</dc:title>
  <dc:subject>Operating Systems Checkpoint</dc:subject>
  <dc:creator>Kimi</dc:creator>
  <cp:lastModifiedBy>alecho edwin</cp:lastModifiedBy>
  <cp:revision>1</cp:revision>
  <dcterms:created xsi:type="dcterms:W3CDTF">2026-06-22T09:57:16Z</dcterms:created>
  <dcterms:modified xsi:type="dcterms:W3CDTF">2026-06-22T10:08:41Z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{"Label":"Operating Systems Checkpoint","ContentProducer":"001191110108MACG2KBH8F10000","ProduceID":"19eee915-8d52-8fc5-8000-00004626a67b","ReservedCode1":"","ContentPropagator":"001191110108MACG2KBH8F20000","PropagateID":"19eee8eb-9f12-8d24-8000-09cbaaa41e83","ReservedCode2":""}</vt:lpwstr>
  </property>
</Properties>
</file>